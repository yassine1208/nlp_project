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080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 min 30. Research question: group posts by theme without using the categories. We compare interpretable topics, not a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 min 30. Source, size, language, nature. State the size limitation right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30. Justify each choice: the vocabulary is fitted on train only to avoid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30. Controlled LDA vs NMF duel on BoW; practical comparison of NMF-BoW vs NMF-TF-IDF.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chart: NMF-BoW wins on both coherence measures; its top words co-occur best. Keep Cᵥ and U-Mass separate, as their scales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TF-IDF improves category alignment and diversity, but not coherence: this is the central trade-off. Remind the audience that purity is not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a good average score hides weak or mixed topics (electricity, classifieds, photo). Times are indicative and hardware-dependent.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2 min on the charts (coherence_cv, coherence_umass, category_alignment, topic_diversity, training_time, per_topic_coherence), 1 min on limitations. Cᵥ and alignment measure different properties, hence different winners.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 min 30. Launch the demo; if running late, show a screenshot to preserve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 min 30. Takeaway: model choice depends on the criterion; inspecting topics complements the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7620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13814"/>
            <a:ext cx="10566400" cy="4531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7620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13814"/>
            <a:ext cx="10566400" cy="4531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860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19 · NLP · SDIA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24443"/>
            <a:ext cx="10883392" cy="1198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Topic Modeling for Archives: LDA vs NMF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851870"/>
            <a:ext cx="1088339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D5D9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we automatically discover the themes of text archives without using their categories for training?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72301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5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Yassine Elhattab · ENSA El Jadida · 20 Newsgroups corpus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Dataset: 20 Newsgroups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89"/>
            <a:ext cx="3380317" cy="1749557"/>
          </a:xfrm>
          <a:prstGeom prst="roundRect">
            <a:avLst>
              <a:gd name="adj" fmla="val 56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71033" y="1822847"/>
            <a:ext cx="2956306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07A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18,028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1033" y="2564474"/>
            <a:ext cx="2956306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posts acquired (official splits)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42" y="1567789"/>
            <a:ext cx="3380317" cy="1749557"/>
          </a:xfrm>
          <a:prstGeom prst="roundRect">
            <a:avLst>
              <a:gd name="adj" fmla="val 56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660900" y="1822847"/>
            <a:ext cx="2956306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07A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17,902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60900" y="2564474"/>
            <a:ext cx="2956306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kept: 10,756 train · 7,146 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09" y="1567789"/>
            <a:ext cx="3380317" cy="1749557"/>
          </a:xfrm>
          <a:prstGeom prst="roundRect">
            <a:avLst>
              <a:gd name="adj" fmla="val 56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250767" y="1822847"/>
            <a:ext cx="2956306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07A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4,560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50767" y="2564474"/>
            <a:ext cx="2956306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vocabulary terms after vectorization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620" y="3625321"/>
            <a:ext cx="1079195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English forum messages, 20 categories; headers, footers and quotes removed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Categories held out: used only for external evaluation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Limitation:</a:t>
            </a: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17,902 documents, below the 50,000 minimum → exploratory results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19 · LDA vs NMF · 2/10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Preprocessing and Representation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90"/>
            <a:ext cx="2520950" cy="174691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71033" y="1822847"/>
            <a:ext cx="207115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7A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· Cleaning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033" y="2168261"/>
            <a:ext cx="2071158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HTML, lowercasing, URLs, emails, numbers, non-alphabetic characters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95675" y="1567790"/>
            <a:ext cx="2520950" cy="174691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750733" y="1822847"/>
            <a:ext cx="207115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7A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· Lemmatization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50733" y="2168261"/>
            <a:ext cx="2071158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spaCy en_core_web_sm; stop words and generic terms filtered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5375" y="1567790"/>
            <a:ext cx="2520950" cy="174691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430433" y="1822847"/>
            <a:ext cx="207115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7A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· BoW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0433" y="2168261"/>
            <a:ext cx="2071158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Unigrams + bigrams, min_df=20, max_df=0.35, fitted on train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55075" y="1567790"/>
            <a:ext cx="2520950" cy="174691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110134" y="1822847"/>
            <a:ext cx="207115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7A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· TF-IDF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10134" y="2168261"/>
            <a:ext cx="2071158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counts and same vocabulary, weighted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620" y="3622675"/>
            <a:ext cx="1079195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126 short or empty documents and 10 highly repetitive ones removed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Why:</a:t>
            </a: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Shared BoW = controlled LDA/NMF comparison; TF-IDF down-weights common terms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19 · LDA vs NMF · 3/10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Modeling: 3 Configurations, 20 Topics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90"/>
            <a:ext cx="3380317" cy="2041591"/>
          </a:xfrm>
          <a:prstGeom prst="roundRect">
            <a:avLst>
              <a:gd name="adj" fmla="val 482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71033" y="1822847"/>
            <a:ext cx="295630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A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LDA + BoW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033" y="2198754"/>
            <a:ext cx="2956306" cy="118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Generative probabilistic model, baseline.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Online, batch 2,048, 40 iterations (limit reached).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Scores = topic probabilities.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5842" y="1567790"/>
            <a:ext cx="3380317" cy="2041591"/>
          </a:xfrm>
          <a:prstGeom prst="roundRect">
            <a:avLst>
              <a:gd name="adj" fmla="val 482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660900" y="1822847"/>
            <a:ext cx="295630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A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NMF + BoW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0900" y="2198754"/>
            <a:ext cx="2956306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Non-negative factorization, nndsvda init, KL loss, mu solver.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iterations run (max 400).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5709" y="1567790"/>
            <a:ext cx="3380317" cy="2041591"/>
          </a:xfrm>
          <a:prstGeom prst="roundRect">
            <a:avLst>
              <a:gd name="adj" fmla="val 482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250767" y="1822847"/>
            <a:ext cx="295630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A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NMF + TF-IDF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0767" y="2198754"/>
            <a:ext cx="2956306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NMF on the weighted matrix.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110 iterations run.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Measures the effect of weighting.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917355"/>
            <a:ext cx="11379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Seed 42. NMF activations are not calibrated probabilities. Labels are never passed to the models.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19 · LDA vs NMF · 4/10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Coherence: NMF-BoW Leads</a:t>
            </a:r>
            <a:endParaRPr lang="en-US" sz="3200" dirty="0"/>
          </a:p>
        </p:txBody>
      </p:sp>
      <p:pic>
        <p:nvPicPr>
          <p:cNvPr id="3" name="Image 0" descr="Cv coherence by model"/>
          <p:cNvPicPr>
            <a:picLocks noChangeAspect="1"/>
          </p:cNvPicPr>
          <p:nvPr/>
        </p:nvPicPr>
        <p:blipFill>
          <a:blip r:embed="rId3"/>
          <a:srcRect l="-88" r="-88"/>
          <a:stretch/>
        </p:blipFill>
        <p:spPr>
          <a:xfrm>
            <a:off x="819150" y="1418565"/>
            <a:ext cx="5168900" cy="3009900"/>
          </a:xfrm>
          <a:prstGeom prst="roundRect">
            <a:avLst>
              <a:gd name="adj" fmla="val 2321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1415390"/>
            <a:ext cx="5175250" cy="3016250"/>
          </a:xfrm>
          <a:prstGeom prst="roundRect">
            <a:avLst>
              <a:gd name="adj" fmla="val 2421"/>
            </a:avLst>
          </a:prstGeom>
          <a:noFill/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812800" y="4561815"/>
            <a:ext cx="5337048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Cᵥ :</a:t>
            </a: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NMF-BoW 0.646, NMF-TF-IDF 0.602, LDA-BoW 0.582.</a:t>
            </a:r>
            <a:endParaRPr lang="en-US" sz="1400" dirty="0"/>
          </a:p>
        </p:txBody>
      </p:sp>
      <p:pic>
        <p:nvPicPr>
          <p:cNvPr id="6" name="Image 1" descr="U-Mass coherence by model"/>
          <p:cNvPicPr>
            <a:picLocks noChangeAspect="1"/>
          </p:cNvPicPr>
          <p:nvPr/>
        </p:nvPicPr>
        <p:blipFill>
          <a:blip r:embed="rId4"/>
          <a:srcRect l="-88" r="-88"/>
          <a:stretch/>
        </p:blipFill>
        <p:spPr>
          <a:xfrm>
            <a:off x="6203950" y="1418565"/>
            <a:ext cx="5168900" cy="3009900"/>
          </a:xfrm>
          <a:prstGeom prst="roundRect">
            <a:avLst>
              <a:gd name="adj" fmla="val 2321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6200775" y="1415390"/>
            <a:ext cx="5175250" cy="3016250"/>
          </a:xfrm>
          <a:prstGeom prst="roundRect">
            <a:avLst>
              <a:gd name="adj" fmla="val 2421"/>
            </a:avLst>
          </a:prstGeom>
          <a:noFill/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6197600" y="4561815"/>
            <a:ext cx="5337048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U-Mass :</a:t>
            </a: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NMF-BoW closest to zero (-2.02); different scale from Cᵥ.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19 · LDA vs NMF · 5/10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Alignment and Diversity: TF-IDF Leads</a:t>
            </a:r>
            <a:endParaRPr lang="en-US" sz="3200" dirty="0"/>
          </a:p>
        </p:txBody>
      </p:sp>
      <p:pic>
        <p:nvPicPr>
          <p:cNvPr id="3" name="Image 0" descr="ARI, NMI and purity by model"/>
          <p:cNvPicPr>
            <a:picLocks noChangeAspect="1"/>
          </p:cNvPicPr>
          <p:nvPr/>
        </p:nvPicPr>
        <p:blipFill>
          <a:blip r:embed="rId3"/>
          <a:srcRect l="-88" r="-88"/>
          <a:stretch/>
        </p:blipFill>
        <p:spPr>
          <a:xfrm>
            <a:off x="819150" y="1418565"/>
            <a:ext cx="5168900" cy="3009900"/>
          </a:xfrm>
          <a:prstGeom prst="roundRect">
            <a:avLst>
              <a:gd name="adj" fmla="val 2321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1415390"/>
            <a:ext cx="5175250" cy="3016250"/>
          </a:xfrm>
          <a:prstGeom prst="roundRect">
            <a:avLst>
              <a:gd name="adj" fmla="val 2421"/>
            </a:avLst>
          </a:prstGeom>
          <a:noFill/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812800" y="4561815"/>
            <a:ext cx="5337048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NMF-TF-IDF :</a:t>
            </a: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ARI 0.296, NMI 0.420, purity 44.9%. Moderate agreement; this is not accuracy.</a:t>
            </a:r>
            <a:endParaRPr lang="en-US" sz="1400" dirty="0"/>
          </a:p>
        </p:txBody>
      </p:sp>
      <p:pic>
        <p:nvPicPr>
          <p:cNvPr id="6" name="Image 1" descr="Word diversity by model"/>
          <p:cNvPicPr>
            <a:picLocks noChangeAspect="1"/>
          </p:cNvPicPr>
          <p:nvPr/>
        </p:nvPicPr>
        <p:blipFill>
          <a:blip r:embed="rId4"/>
          <a:srcRect l="-88" r="-88"/>
          <a:stretch/>
        </p:blipFill>
        <p:spPr>
          <a:xfrm>
            <a:off x="6203950" y="1418565"/>
            <a:ext cx="5168900" cy="3009900"/>
          </a:xfrm>
          <a:prstGeom prst="roundRect">
            <a:avLst>
              <a:gd name="adj" fmla="val 2321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6200775" y="1415390"/>
            <a:ext cx="5175250" cy="3016250"/>
          </a:xfrm>
          <a:prstGeom prst="roundRect">
            <a:avLst>
              <a:gd name="adj" fmla="val 2421"/>
            </a:avLst>
          </a:prstGeom>
          <a:noFill/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6197600" y="4561815"/>
            <a:ext cx="5337048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Diversity:</a:t>
            </a: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96.0% vs 89.5% (NMF-BoW) and 90.5% (LDA): less redundancy, but lower Cᵥ.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19 · LDA vs NMF · 6/10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Per-Topic Variation and Time</a:t>
            </a:r>
            <a:endParaRPr lang="en-US" sz="3200" dirty="0"/>
          </a:p>
        </p:txBody>
      </p:sp>
      <p:pic>
        <p:nvPicPr>
          <p:cNvPr id="3" name="Image 0" descr="Coherence by topic and model"/>
          <p:cNvPicPr>
            <a:picLocks noChangeAspect="1"/>
          </p:cNvPicPr>
          <p:nvPr/>
        </p:nvPicPr>
        <p:blipFill>
          <a:blip r:embed="rId3"/>
          <a:srcRect l="-115" r="-115"/>
          <a:stretch/>
        </p:blipFill>
        <p:spPr>
          <a:xfrm>
            <a:off x="819150" y="1418565"/>
            <a:ext cx="6337300" cy="3689350"/>
          </a:xfrm>
          <a:prstGeom prst="roundRect">
            <a:avLst>
              <a:gd name="adj" fmla="val 1893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1415390"/>
            <a:ext cx="6343650" cy="3695700"/>
          </a:xfrm>
          <a:prstGeom prst="roundRect">
            <a:avLst>
              <a:gd name="adj" fmla="val 1976"/>
            </a:avLst>
          </a:prstGeom>
          <a:noFill/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812800" y="5241265"/>
            <a:ext cx="6540500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Good and poor topics coexist: Cᵥ ranges from 0.889 (storage, NMF-TF-IDF) to 0.289 (photo, LDA). The average alone is not enough.</a:t>
            </a:r>
            <a:endParaRPr lang="en-US" sz="1400" dirty="0"/>
          </a:p>
        </p:txBody>
      </p:sp>
      <p:pic>
        <p:nvPicPr>
          <p:cNvPr id="6" name="Image 1" descr="Training time by model"/>
          <p:cNvPicPr>
            <a:picLocks noChangeAspect="1"/>
          </p:cNvPicPr>
          <p:nvPr/>
        </p:nvPicPr>
        <p:blipFill>
          <a:blip r:embed="rId4"/>
          <a:srcRect l="-115" r="-115"/>
          <a:stretch/>
        </p:blipFill>
        <p:spPr>
          <a:xfrm>
            <a:off x="7372350" y="1418565"/>
            <a:ext cx="3949700" cy="2298700"/>
          </a:xfrm>
          <a:prstGeom prst="roundRect">
            <a:avLst>
              <a:gd name="adj" fmla="val 3039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7369175" y="1415390"/>
            <a:ext cx="3956050" cy="2305050"/>
          </a:xfrm>
          <a:prstGeom prst="roundRect">
            <a:avLst>
              <a:gd name="adj" fmla="val 3168"/>
            </a:avLst>
          </a:prstGeom>
          <a:noFill/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7366000" y="3850615"/>
            <a:ext cx="4081272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Time:</a:t>
            </a: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TF-IDF 13.7 s, LDA 17.1 s, NMF-BoW 18.8 s; hardware-dependent.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19 · LDA vs NMF · 7/10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Summary: The Best Model Depends on the Criterion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399515"/>
          <a:ext cx="10553704" cy="1757628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9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9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92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94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Cᵥ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U-Mass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Diversity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ARI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NMI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Purity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Time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4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LDA-BoW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0.582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-2.587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90.5%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0.235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0.398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38.9%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17.1 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4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NMF-BoW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0.646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-2.023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89.5%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0.255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0.416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44.0%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18.8 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40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NMF-TF-IDF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0.602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-2.432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96.0%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0.296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0.420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44.9%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13.7 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5975" y="3388916"/>
            <a:ext cx="3414183" cy="1731698"/>
          </a:xfrm>
          <a:prstGeom prst="roundRect">
            <a:avLst>
              <a:gd name="adj" fmla="val 568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1071033" y="3643976"/>
            <a:ext cx="29911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7A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71033" y="3974176"/>
            <a:ext cx="2991189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NMF-BoW: most coherent words. TF-IDF: less redundant topics (4% repetition) and better aligned.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8908" y="3388916"/>
            <a:ext cx="3414183" cy="1731698"/>
          </a:xfrm>
          <a:prstGeom prst="roundRect">
            <a:avLst>
              <a:gd name="adj" fmla="val 568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643967" y="3643976"/>
            <a:ext cx="29911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7A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43967" y="3974176"/>
            <a:ext cx="2991189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Moderate alignment (purity &lt; 45%; this is not accuracy). Weak topics: Cᵥ from 0.29 to 0.39 (electricity, classifieds, photo).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61842" y="3388916"/>
            <a:ext cx="3414183" cy="1731698"/>
          </a:xfrm>
          <a:prstGeom prst="roundRect">
            <a:avLst>
              <a:gd name="adj" fmla="val 568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8216900" y="3643976"/>
            <a:ext cx="29911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7A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16900" y="3974176"/>
            <a:ext cx="2991189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Corpus &lt; 50,000 docs; test set reused for selection; LDA not converged (40/40); old Usenet data.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19 · LDA vs NMF · 8/10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 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93"/>
            <a:ext cx="3414183" cy="1575461"/>
          </a:xfrm>
          <a:prstGeom prst="roundRect">
            <a:avLst>
              <a:gd name="adj" fmla="val 624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71033" y="1822847"/>
            <a:ext cx="2991189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· Load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033" y="2168265"/>
            <a:ext cx="2991189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.txt file from test_documents/ in the Streamlit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8908" y="1567793"/>
            <a:ext cx="3414183" cy="1575461"/>
          </a:xfrm>
          <a:prstGeom prst="roundRect">
            <a:avLst>
              <a:gd name="adj" fmla="val 624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643967" y="1822847"/>
            <a:ext cx="2991189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· Preprocess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43967" y="2168265"/>
            <a:ext cx="2991189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rules as training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61842" y="1567793"/>
            <a:ext cx="3414183" cy="1575461"/>
          </a:xfrm>
          <a:prstGeom prst="roundRect">
            <a:avLst>
              <a:gd name="adj" fmla="val 624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216900" y="1822847"/>
            <a:ext cx="2991189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· Infer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16900" y="2168265"/>
            <a:ext cx="2991189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Dominant topics for all 3 models, with keywords and interpretation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45122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Short or out-of-vocabulary texts: unstable results. NMF scores = activations, not probabilities.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19 · LDA vs NMF · 9/10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900634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 and Outlook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2601652"/>
            <a:ext cx="5181600" cy="991791"/>
          </a:xfrm>
          <a:prstGeom prst="roundRect">
            <a:avLst>
              <a:gd name="adj" fmla="val 10244"/>
            </a:avLst>
          </a:prstGeom>
          <a:solidFill>
            <a:srgbClr val="1F2F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66800" y="2855652"/>
            <a:ext cx="481380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NMF-BoW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3099464"/>
            <a:ext cx="4813808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Prioritizes word coherence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97600" y="2601652"/>
            <a:ext cx="5181600" cy="991791"/>
          </a:xfrm>
          <a:prstGeom prst="roundRect">
            <a:avLst>
              <a:gd name="adj" fmla="val 10244"/>
            </a:avLst>
          </a:prstGeom>
          <a:solidFill>
            <a:srgbClr val="1F2F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451600" y="2855652"/>
            <a:ext cx="481380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NMF-TF-IDF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51600" y="3099464"/>
            <a:ext cx="4813808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Prioritizes diversity, alignment and speed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620" y="3847443"/>
            <a:ext cx="1079195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D5D9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Reach 50,000 documents and keep a final test set untouched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D5D9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More iterations for LDA, a study of the number of topics, contextual embeddings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4672943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F2A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model proposes groupings that metrics and human analysis must verify.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délisation de sujets LDA vs NMF">
  <a:themeElements>
    <a:clrScheme name="Modélisation de sujets LDA vs NMF">
      <a:dk1>
        <a:srgbClr val="14213D"/>
      </a:dk1>
      <a:lt1>
        <a:srgbClr val="F6F4EF"/>
      </a:lt1>
      <a:dk2>
        <a:srgbClr val="4D566A"/>
      </a:dk2>
      <a:lt2>
        <a:srgbClr val="DFDFDD"/>
      </a:lt2>
      <a:accent1>
        <a:srgbClr val="E07A1F"/>
      </a:accent1>
      <a:accent2>
        <a:srgbClr val="1F7A8C"/>
      </a:accent2>
      <a:accent3>
        <a:srgbClr val="F2A65A"/>
      </a:accent3>
      <a:accent4>
        <a:srgbClr val="5D6678"/>
      </a:accent4>
      <a:accent5>
        <a:srgbClr val="D5D9E3"/>
      </a:accent5>
      <a:accent6>
        <a:srgbClr val="9AA5BD"/>
      </a:accent6>
      <a:hlink>
        <a:srgbClr val="0563C1"/>
      </a:hlink>
      <a:folHlink>
        <a:srgbClr val="954F72"/>
      </a:folHlink>
    </a:clrScheme>
    <a:fontScheme name="Modélisation de sujets LDA vs NMF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Microsoft Office PowerPoint</Application>
  <PresentationFormat>Widescreen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Helvetica</vt:lpstr>
      <vt:lpstr>Modélisation de sujets LDA vs NMF</vt:lpstr>
      <vt:lpstr>Modélisation de sujets pour archives : LDA contre NMF</vt:lpstr>
      <vt:lpstr>Dataset : 20 Newsgroups</vt:lpstr>
      <vt:lpstr>Prétraitement et représentation</vt:lpstr>
      <vt:lpstr>Modélisation : 3 configurations, 20 sujets</vt:lpstr>
      <vt:lpstr>Cohérence : NMF-BoW en tête</vt:lpstr>
      <vt:lpstr>Alignement et diversité : TF-IDF en tête</vt:lpstr>
      <vt:lpstr>Variation par sujet et temps</vt:lpstr>
      <vt:lpstr>Synthèse : le meilleur modèle dépend du critère</vt:lpstr>
      <vt:lpstr>Application de démonstration</vt:lpstr>
      <vt:lpstr>Conclusion et 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Modeling: LDA vs NMF</dc:title>
  <dc:subject/>
  <dc:creator/>
  <cp:lastModifiedBy>yassine elhattab</cp:lastModifiedBy>
  <cp:revision>2</cp:revision>
  <dcterms:created xsi:type="dcterms:W3CDTF">2026-10-28T05:50:49Z</dcterms:created>
  <dcterms:modified xsi:type="dcterms:W3CDTF">2026-10-28T06:40:34Z</dcterms:modified>
</cp:coreProperties>
</file>